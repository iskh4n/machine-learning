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63" r:id="rId5"/>
    <p:sldId id="262" r:id="rId6"/>
    <p:sldId id="275" r:id="rId7"/>
    <p:sldId id="276" r:id="rId8"/>
    <p:sldId id="277" r:id="rId9"/>
    <p:sldId id="278" r:id="rId10"/>
    <p:sldId id="283" r:id="rId11"/>
    <p:sldId id="284" r:id="rId12"/>
    <p:sldId id="281" r:id="rId13"/>
    <p:sldId id="282" r:id="rId1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110BE0-B95D-4F12-B78B-A66934BC5FB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C80BFF-ED7C-451D-AB65-CA16F4373C93}">
      <dgm:prSet custT="1"/>
      <dgm:spPr/>
      <dgm:t>
        <a:bodyPr/>
        <a:lstStyle/>
        <a:p>
          <a:r>
            <a:rPr lang="tr-TR" sz="3200" b="1" i="0" dirty="0"/>
            <a:t>Girdi özellikleri</a:t>
          </a:r>
          <a:endParaRPr lang="en-US" sz="3200" dirty="0"/>
        </a:p>
      </dgm:t>
    </dgm:pt>
    <dgm:pt modelId="{DA990CE4-C1FC-4442-858B-450F6B482063}" type="parTrans" cxnId="{73C05C1A-32C0-4EA6-9ACF-2D5D4C713E29}">
      <dgm:prSet/>
      <dgm:spPr/>
      <dgm:t>
        <a:bodyPr/>
        <a:lstStyle/>
        <a:p>
          <a:endParaRPr lang="en-US"/>
        </a:p>
      </dgm:t>
    </dgm:pt>
    <dgm:pt modelId="{F8C02926-2DC6-474D-AA6F-A020AE79E9E2}" type="sibTrans" cxnId="{73C05C1A-32C0-4EA6-9ACF-2D5D4C713E29}">
      <dgm:prSet/>
      <dgm:spPr/>
      <dgm:t>
        <a:bodyPr/>
        <a:lstStyle/>
        <a:p>
          <a:endParaRPr lang="en-US"/>
        </a:p>
      </dgm:t>
    </dgm:pt>
    <dgm:pt modelId="{826EBE00-DB34-4E98-9F34-5BF1FD691712}">
      <dgm:prSet custT="1"/>
      <dgm:spPr/>
      <dgm:t>
        <a:bodyPr/>
        <a:lstStyle/>
        <a:p>
          <a:r>
            <a:rPr lang="en-US" sz="1800" b="0" i="0" dirty="0"/>
            <a:t>relative compactness,</a:t>
          </a:r>
          <a:r>
            <a:rPr lang="tr-TR" sz="1800" b="0" i="0" dirty="0"/>
            <a:t>(bağıl </a:t>
          </a:r>
          <a:r>
            <a:rPr lang="tr-TR" sz="1800" b="0" i="0" dirty="0" err="1"/>
            <a:t>kompaksiyon</a:t>
          </a:r>
          <a:r>
            <a:rPr lang="tr-TR" sz="1800" b="0" i="0" dirty="0"/>
            <a:t>, zemin sıkılaştırmayla alakalı)</a:t>
          </a:r>
          <a:endParaRPr lang="en-US" sz="1800" dirty="0"/>
        </a:p>
      </dgm:t>
    </dgm:pt>
    <dgm:pt modelId="{10B86E61-8E4C-4960-AD1C-658B8B91E8AD}" type="parTrans" cxnId="{5028304C-17DA-4BCD-B0C6-D5E58BFFEAC8}">
      <dgm:prSet/>
      <dgm:spPr/>
      <dgm:t>
        <a:bodyPr/>
        <a:lstStyle/>
        <a:p>
          <a:endParaRPr lang="en-US"/>
        </a:p>
      </dgm:t>
    </dgm:pt>
    <dgm:pt modelId="{171CB5B2-3E9A-4513-BF22-EF76F4BE22CC}" type="sibTrans" cxnId="{5028304C-17DA-4BCD-B0C6-D5E58BFFEAC8}">
      <dgm:prSet/>
      <dgm:spPr/>
      <dgm:t>
        <a:bodyPr/>
        <a:lstStyle/>
        <a:p>
          <a:endParaRPr lang="en-US"/>
        </a:p>
      </dgm:t>
    </dgm:pt>
    <dgm:pt modelId="{518B77AE-29B2-4892-9E01-2FC4ACB45863}">
      <dgm:prSet custT="1"/>
      <dgm:spPr/>
      <dgm:t>
        <a:bodyPr/>
        <a:lstStyle/>
        <a:p>
          <a:r>
            <a:rPr lang="en-US" sz="1800" b="0" i="0" dirty="0"/>
            <a:t>roof area,</a:t>
          </a:r>
          <a:r>
            <a:rPr lang="tr-TR" sz="1800" b="0" i="0" dirty="0"/>
            <a:t> (çatı alanı-m²)</a:t>
          </a:r>
          <a:endParaRPr lang="en-US" sz="1800" dirty="0"/>
        </a:p>
      </dgm:t>
    </dgm:pt>
    <dgm:pt modelId="{AD84A95E-424D-44BA-97AB-3AF470F75140}" type="parTrans" cxnId="{ECB19750-6842-4618-B621-244E621D79FF}">
      <dgm:prSet/>
      <dgm:spPr/>
      <dgm:t>
        <a:bodyPr/>
        <a:lstStyle/>
        <a:p>
          <a:endParaRPr lang="en-US"/>
        </a:p>
      </dgm:t>
    </dgm:pt>
    <dgm:pt modelId="{29DC9843-3183-4759-9087-4DC15E24A852}" type="sibTrans" cxnId="{ECB19750-6842-4618-B621-244E621D79FF}">
      <dgm:prSet/>
      <dgm:spPr/>
      <dgm:t>
        <a:bodyPr/>
        <a:lstStyle/>
        <a:p>
          <a:endParaRPr lang="en-US"/>
        </a:p>
      </dgm:t>
    </dgm:pt>
    <dgm:pt modelId="{EB8A69D0-B14A-477B-9603-B9176AA7127D}">
      <dgm:prSet custT="1"/>
      <dgm:spPr/>
      <dgm:t>
        <a:bodyPr/>
        <a:lstStyle/>
        <a:p>
          <a:r>
            <a:rPr lang="en-US" sz="1800" b="0" i="0" dirty="0"/>
            <a:t>overall height,</a:t>
          </a:r>
          <a:r>
            <a:rPr lang="tr-TR" sz="1800" b="0" i="0" dirty="0"/>
            <a:t>(yükseklik-m)</a:t>
          </a:r>
          <a:endParaRPr lang="en-US" sz="1800" dirty="0"/>
        </a:p>
      </dgm:t>
    </dgm:pt>
    <dgm:pt modelId="{82D8D9F5-FCB3-4ECE-A76B-384CAA9EE036}" type="parTrans" cxnId="{DAE6DF5C-76DB-427F-9F63-269C7022BCB4}">
      <dgm:prSet/>
      <dgm:spPr/>
      <dgm:t>
        <a:bodyPr/>
        <a:lstStyle/>
        <a:p>
          <a:endParaRPr lang="en-US"/>
        </a:p>
      </dgm:t>
    </dgm:pt>
    <dgm:pt modelId="{4033C812-CA41-4AF3-8D73-BD1EC8068197}" type="sibTrans" cxnId="{DAE6DF5C-76DB-427F-9F63-269C7022BCB4}">
      <dgm:prSet/>
      <dgm:spPr/>
      <dgm:t>
        <a:bodyPr/>
        <a:lstStyle/>
        <a:p>
          <a:endParaRPr lang="en-US"/>
        </a:p>
      </dgm:t>
    </dgm:pt>
    <dgm:pt modelId="{3AF876A5-2B74-4D2F-A975-38B77F3B9563}">
      <dgm:prSet custT="1"/>
      <dgm:spPr/>
      <dgm:t>
        <a:bodyPr/>
        <a:lstStyle/>
        <a:p>
          <a:r>
            <a:rPr lang="en-US" sz="1800" b="0" i="0" dirty="0"/>
            <a:t>surface area,</a:t>
          </a:r>
          <a:r>
            <a:rPr lang="tr-TR" sz="1800" b="0" i="0" dirty="0"/>
            <a:t>(yüzey alanı-m²)</a:t>
          </a:r>
          <a:endParaRPr lang="en-US" sz="1800" dirty="0"/>
        </a:p>
      </dgm:t>
    </dgm:pt>
    <dgm:pt modelId="{483AED90-98CC-4A49-964D-4B1BFC3B8B47}" type="parTrans" cxnId="{13394CB9-BDB5-4FFD-8C05-5F900DD477C0}">
      <dgm:prSet/>
      <dgm:spPr/>
      <dgm:t>
        <a:bodyPr/>
        <a:lstStyle/>
        <a:p>
          <a:endParaRPr lang="en-US"/>
        </a:p>
      </dgm:t>
    </dgm:pt>
    <dgm:pt modelId="{3FFF615E-EC41-4020-8C8F-AFB7E055F1F8}" type="sibTrans" cxnId="{13394CB9-BDB5-4FFD-8C05-5F900DD477C0}">
      <dgm:prSet/>
      <dgm:spPr/>
      <dgm:t>
        <a:bodyPr/>
        <a:lstStyle/>
        <a:p>
          <a:endParaRPr lang="en-US"/>
        </a:p>
      </dgm:t>
    </dgm:pt>
    <dgm:pt modelId="{4A79809D-7988-41A8-A922-86E8E641AFE5}">
      <dgm:prSet custT="1"/>
      <dgm:spPr/>
      <dgm:t>
        <a:bodyPr/>
        <a:lstStyle/>
        <a:p>
          <a:r>
            <a:rPr lang="en-US" sz="1800" b="0" i="0" dirty="0"/>
            <a:t>glazing area,</a:t>
          </a:r>
          <a:r>
            <a:rPr lang="tr-TR" sz="1800" b="0" i="0" dirty="0"/>
            <a:t>(camlı alan-%0,%10… of </a:t>
          </a:r>
          <a:r>
            <a:rPr lang="tr-TR" sz="1800" b="0" i="0" dirty="0" err="1"/>
            <a:t>floor</a:t>
          </a:r>
          <a:r>
            <a:rPr lang="tr-TR" sz="1800" b="0" i="0" dirty="0"/>
            <a:t> </a:t>
          </a:r>
          <a:r>
            <a:rPr lang="tr-TR" sz="1800" b="0" i="0" dirty="0" err="1"/>
            <a:t>area</a:t>
          </a:r>
          <a:r>
            <a:rPr lang="tr-TR" sz="1800" b="0" i="0" dirty="0"/>
            <a:t>)</a:t>
          </a:r>
          <a:endParaRPr lang="en-US" sz="1800" dirty="0"/>
        </a:p>
      </dgm:t>
    </dgm:pt>
    <dgm:pt modelId="{1043F0B1-75C3-4BA3-B1ED-6891FB6182B1}" type="parTrans" cxnId="{BB535509-1416-408E-AB76-C2BD15EF54C7}">
      <dgm:prSet/>
      <dgm:spPr/>
      <dgm:t>
        <a:bodyPr/>
        <a:lstStyle/>
        <a:p>
          <a:endParaRPr lang="en-US"/>
        </a:p>
      </dgm:t>
    </dgm:pt>
    <dgm:pt modelId="{0C57963A-89C3-4000-810B-741B77F71E4F}" type="sibTrans" cxnId="{BB535509-1416-408E-AB76-C2BD15EF54C7}">
      <dgm:prSet/>
      <dgm:spPr/>
      <dgm:t>
        <a:bodyPr/>
        <a:lstStyle/>
        <a:p>
          <a:endParaRPr lang="en-US"/>
        </a:p>
      </dgm:t>
    </dgm:pt>
    <dgm:pt modelId="{78DD69F1-FBF3-4F49-B01E-7555D0547B2D}">
      <dgm:prSet custT="1"/>
      <dgm:spPr/>
      <dgm:t>
        <a:bodyPr/>
        <a:lstStyle/>
        <a:p>
          <a:r>
            <a:rPr lang="en-US" sz="1800" b="0" i="0" dirty="0"/>
            <a:t>wall area,</a:t>
          </a:r>
          <a:r>
            <a:rPr lang="tr-TR" sz="1800" b="0" i="0" dirty="0"/>
            <a:t>(duvar alanı-m²)</a:t>
          </a:r>
          <a:endParaRPr lang="en-US" sz="1800" dirty="0"/>
        </a:p>
      </dgm:t>
    </dgm:pt>
    <dgm:pt modelId="{CC9CC2F2-A789-47B7-A9D5-CDC78E40E707}" type="parTrans" cxnId="{302E03D9-D7EA-49FB-BC98-76605C6D1DAE}">
      <dgm:prSet/>
      <dgm:spPr/>
      <dgm:t>
        <a:bodyPr/>
        <a:lstStyle/>
        <a:p>
          <a:endParaRPr lang="en-US"/>
        </a:p>
      </dgm:t>
    </dgm:pt>
    <dgm:pt modelId="{9FDE95AB-F9EC-438A-A3B4-2F3886BCA8A6}" type="sibTrans" cxnId="{302E03D9-D7EA-49FB-BC98-76605C6D1DAE}">
      <dgm:prSet/>
      <dgm:spPr/>
      <dgm:t>
        <a:bodyPr/>
        <a:lstStyle/>
        <a:p>
          <a:endParaRPr lang="en-US"/>
        </a:p>
      </dgm:t>
    </dgm:pt>
    <dgm:pt modelId="{56BD2B07-C0C2-45FD-87A1-DC17272F6F10}">
      <dgm:prSet custT="1"/>
      <dgm:spPr/>
      <dgm:t>
        <a:bodyPr/>
        <a:lstStyle/>
        <a:p>
          <a:r>
            <a:rPr lang="en-US" sz="1800" b="0" i="0" dirty="0"/>
            <a:t>glazing area distribution of a building,</a:t>
          </a:r>
          <a:r>
            <a:rPr lang="tr-TR" sz="1800" b="0" i="0" dirty="0"/>
            <a:t>(camların baktığı yön-kuzey/güney/doğu/batı)</a:t>
          </a:r>
          <a:endParaRPr lang="en-US" sz="1800" dirty="0"/>
        </a:p>
      </dgm:t>
    </dgm:pt>
    <dgm:pt modelId="{DB20CB8B-C04E-45FF-9BF0-BE428738BB78}" type="parTrans" cxnId="{75A6AB31-5729-4608-82E8-A899CE15D625}">
      <dgm:prSet/>
      <dgm:spPr/>
      <dgm:t>
        <a:bodyPr/>
        <a:lstStyle/>
        <a:p>
          <a:endParaRPr lang="en-US"/>
        </a:p>
      </dgm:t>
    </dgm:pt>
    <dgm:pt modelId="{0DFD5303-A9B3-4569-A848-57B3BA2E27EC}" type="sibTrans" cxnId="{75A6AB31-5729-4608-82E8-A899CE15D625}">
      <dgm:prSet/>
      <dgm:spPr/>
      <dgm:t>
        <a:bodyPr/>
        <a:lstStyle/>
        <a:p>
          <a:endParaRPr lang="en-US"/>
        </a:p>
      </dgm:t>
    </dgm:pt>
    <dgm:pt modelId="{F5ED48C5-8874-4681-B411-31EAD67B6750}">
      <dgm:prSet custT="1"/>
      <dgm:spPr/>
      <dgm:t>
        <a:bodyPr/>
        <a:lstStyle/>
        <a:p>
          <a:r>
            <a:rPr lang="en-US" sz="1800" b="0" i="0" dirty="0"/>
            <a:t>orientation.</a:t>
          </a:r>
          <a:r>
            <a:rPr lang="tr-TR" sz="1800" b="0" i="0" dirty="0"/>
            <a:t>(evin bulunduğu yön konum-kuzey/güney/doğu/batı)</a:t>
          </a:r>
          <a:endParaRPr lang="en-US" sz="1800" dirty="0"/>
        </a:p>
      </dgm:t>
    </dgm:pt>
    <dgm:pt modelId="{978B1306-3A58-4D8D-9BB8-0AAB9834D625}" type="parTrans" cxnId="{B4BDCD80-74B4-4328-8817-832AA98AB1C7}">
      <dgm:prSet/>
      <dgm:spPr/>
      <dgm:t>
        <a:bodyPr/>
        <a:lstStyle/>
        <a:p>
          <a:endParaRPr lang="en-US"/>
        </a:p>
      </dgm:t>
    </dgm:pt>
    <dgm:pt modelId="{C1D2ADCC-3664-467D-904F-3DFD0580E3A1}" type="sibTrans" cxnId="{B4BDCD80-74B4-4328-8817-832AA98AB1C7}">
      <dgm:prSet/>
      <dgm:spPr/>
      <dgm:t>
        <a:bodyPr/>
        <a:lstStyle/>
        <a:p>
          <a:endParaRPr lang="en-US"/>
        </a:p>
      </dgm:t>
    </dgm:pt>
    <dgm:pt modelId="{5E024408-803D-4150-B178-0682C2ED4061}">
      <dgm:prSet custT="1"/>
      <dgm:spPr/>
      <dgm:t>
        <a:bodyPr/>
        <a:lstStyle/>
        <a:p>
          <a:r>
            <a:rPr lang="tr-TR" sz="3200" b="1" i="0" dirty="0"/>
            <a:t>Çıktı özellikleri</a:t>
          </a:r>
          <a:endParaRPr lang="en-US" sz="3200" dirty="0"/>
        </a:p>
      </dgm:t>
    </dgm:pt>
    <dgm:pt modelId="{85314941-7757-4CA0-95E3-872C464B4088}" type="parTrans" cxnId="{64C4A14B-E608-44E5-A877-EA6E44B266E0}">
      <dgm:prSet/>
      <dgm:spPr/>
      <dgm:t>
        <a:bodyPr/>
        <a:lstStyle/>
        <a:p>
          <a:endParaRPr lang="en-US"/>
        </a:p>
      </dgm:t>
    </dgm:pt>
    <dgm:pt modelId="{54AF62A6-66CF-4E1D-8136-B28683649CC0}" type="sibTrans" cxnId="{64C4A14B-E608-44E5-A877-EA6E44B266E0}">
      <dgm:prSet/>
      <dgm:spPr/>
      <dgm:t>
        <a:bodyPr/>
        <a:lstStyle/>
        <a:p>
          <a:endParaRPr lang="en-US"/>
        </a:p>
      </dgm:t>
    </dgm:pt>
    <dgm:pt modelId="{EAE1B029-C4F8-4D51-B9D8-51F3ECAB1C36}">
      <dgm:prSet custT="1"/>
      <dgm:spPr/>
      <dgm:t>
        <a:bodyPr/>
        <a:lstStyle/>
        <a:p>
          <a:r>
            <a:rPr lang="en-US" sz="1800" b="0" i="0" dirty="0"/>
            <a:t>heating loads, and</a:t>
          </a:r>
          <a:r>
            <a:rPr lang="tr-TR" sz="1800" b="0" i="0" dirty="0"/>
            <a:t>(ısıtma yükü-</a:t>
          </a:r>
          <a:r>
            <a:rPr lang="tr-TR" sz="1800" b="0" i="0" dirty="0" err="1"/>
            <a:t>kWh</a:t>
          </a:r>
          <a:r>
            <a:rPr lang="tr-TR" sz="1800" b="0" i="0" dirty="0"/>
            <a:t>)</a:t>
          </a:r>
          <a:endParaRPr lang="en-US" sz="1800" dirty="0"/>
        </a:p>
      </dgm:t>
    </dgm:pt>
    <dgm:pt modelId="{49D1E1CD-C713-49BE-8586-4D59C7E31DEE}" type="parTrans" cxnId="{7B6F4031-9A7D-4163-9196-978DD941EF3B}">
      <dgm:prSet/>
      <dgm:spPr/>
      <dgm:t>
        <a:bodyPr/>
        <a:lstStyle/>
        <a:p>
          <a:endParaRPr lang="en-US"/>
        </a:p>
      </dgm:t>
    </dgm:pt>
    <dgm:pt modelId="{08A267C3-1664-4AE0-85B8-A63107D91BC9}" type="sibTrans" cxnId="{7B6F4031-9A7D-4163-9196-978DD941EF3B}">
      <dgm:prSet/>
      <dgm:spPr/>
      <dgm:t>
        <a:bodyPr/>
        <a:lstStyle/>
        <a:p>
          <a:endParaRPr lang="en-US"/>
        </a:p>
      </dgm:t>
    </dgm:pt>
    <dgm:pt modelId="{0E177550-AA59-485F-A043-A66CFCF23664}">
      <dgm:prSet custT="1"/>
      <dgm:spPr/>
      <dgm:t>
        <a:bodyPr/>
        <a:lstStyle/>
        <a:p>
          <a:r>
            <a:rPr lang="en-US" sz="1800" b="0" i="0" dirty="0"/>
            <a:t>cooling loads of the building.</a:t>
          </a:r>
          <a:r>
            <a:rPr lang="tr-TR" sz="1800" b="0" i="0" dirty="0"/>
            <a:t>(soğutma yükü- </a:t>
          </a:r>
          <a:r>
            <a:rPr lang="tr-TR" sz="1800" b="0" i="0" dirty="0" err="1"/>
            <a:t>kWh</a:t>
          </a:r>
          <a:r>
            <a:rPr lang="tr-TR" sz="1800" b="0" i="0" dirty="0"/>
            <a:t>)</a:t>
          </a:r>
          <a:endParaRPr lang="en-US" sz="1800" dirty="0"/>
        </a:p>
      </dgm:t>
    </dgm:pt>
    <dgm:pt modelId="{718CAA68-D20D-4506-B93C-7670A28FDB99}" type="parTrans" cxnId="{5F850C38-54CE-4895-8543-04AD7E5FEFCE}">
      <dgm:prSet/>
      <dgm:spPr/>
      <dgm:t>
        <a:bodyPr/>
        <a:lstStyle/>
        <a:p>
          <a:endParaRPr lang="en-US"/>
        </a:p>
      </dgm:t>
    </dgm:pt>
    <dgm:pt modelId="{9797C60B-BC15-475C-BE58-BFF19C46BBF5}" type="sibTrans" cxnId="{5F850C38-54CE-4895-8543-04AD7E5FEFCE}">
      <dgm:prSet/>
      <dgm:spPr/>
      <dgm:t>
        <a:bodyPr/>
        <a:lstStyle/>
        <a:p>
          <a:endParaRPr lang="en-US"/>
        </a:p>
      </dgm:t>
    </dgm:pt>
    <dgm:pt modelId="{5A6218A1-1F50-4C4B-A412-2D3B761ADD26}" type="pres">
      <dgm:prSet presAssocID="{A1110BE0-B95D-4F12-B78B-A66934BC5FB4}" presName="linear" presStyleCnt="0">
        <dgm:presLayoutVars>
          <dgm:animLvl val="lvl"/>
          <dgm:resizeHandles val="exact"/>
        </dgm:presLayoutVars>
      </dgm:prSet>
      <dgm:spPr/>
    </dgm:pt>
    <dgm:pt modelId="{BB8B29FD-4647-4A1A-A92A-DB3EB4806DAD}" type="pres">
      <dgm:prSet presAssocID="{F1C80BFF-ED7C-451D-AB65-CA16F4373C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BA84EB0-A0B7-4712-AE92-19EB8206F82C}" type="pres">
      <dgm:prSet presAssocID="{F1C80BFF-ED7C-451D-AB65-CA16F4373C93}" presName="childText" presStyleLbl="revTx" presStyleIdx="0" presStyleCnt="2">
        <dgm:presLayoutVars>
          <dgm:bulletEnabled val="1"/>
        </dgm:presLayoutVars>
      </dgm:prSet>
      <dgm:spPr/>
    </dgm:pt>
    <dgm:pt modelId="{42A77516-A204-4F25-898F-A9377CBFF010}" type="pres">
      <dgm:prSet presAssocID="{5E024408-803D-4150-B178-0682C2ED406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0EB657F-2339-4BD1-BFB1-764B9CDBE2DA}" type="pres">
      <dgm:prSet presAssocID="{5E024408-803D-4150-B178-0682C2ED406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B535509-1416-408E-AB76-C2BD15EF54C7}" srcId="{F1C80BFF-ED7C-451D-AB65-CA16F4373C93}" destId="{4A79809D-7988-41A8-A922-86E8E641AFE5}" srcOrd="4" destOrd="0" parTransId="{1043F0B1-75C3-4BA3-B1ED-6891FB6182B1}" sibTransId="{0C57963A-89C3-4000-810B-741B77F71E4F}"/>
    <dgm:cxn modelId="{73C05C1A-32C0-4EA6-9ACF-2D5D4C713E29}" srcId="{A1110BE0-B95D-4F12-B78B-A66934BC5FB4}" destId="{F1C80BFF-ED7C-451D-AB65-CA16F4373C93}" srcOrd="0" destOrd="0" parTransId="{DA990CE4-C1FC-4442-858B-450F6B482063}" sibTransId="{F8C02926-2DC6-474D-AA6F-A020AE79E9E2}"/>
    <dgm:cxn modelId="{1716F31A-FEAD-4C43-AFA9-CC8DE08B9170}" type="presOf" srcId="{78DD69F1-FBF3-4F49-B01E-7555D0547B2D}" destId="{9BA84EB0-A0B7-4712-AE92-19EB8206F82C}" srcOrd="0" destOrd="5" presId="urn:microsoft.com/office/officeart/2005/8/layout/vList2"/>
    <dgm:cxn modelId="{FA4A6920-22BE-4A15-98A2-C314243FBC51}" type="presOf" srcId="{0E177550-AA59-485F-A043-A66CFCF23664}" destId="{00EB657F-2339-4BD1-BFB1-764B9CDBE2DA}" srcOrd="0" destOrd="1" presId="urn:microsoft.com/office/officeart/2005/8/layout/vList2"/>
    <dgm:cxn modelId="{2B5E2325-A7E4-4009-B05D-232323B3F71E}" type="presOf" srcId="{A1110BE0-B95D-4F12-B78B-A66934BC5FB4}" destId="{5A6218A1-1F50-4C4B-A412-2D3B761ADD26}" srcOrd="0" destOrd="0" presId="urn:microsoft.com/office/officeart/2005/8/layout/vList2"/>
    <dgm:cxn modelId="{7B6F4031-9A7D-4163-9196-978DD941EF3B}" srcId="{5E024408-803D-4150-B178-0682C2ED4061}" destId="{EAE1B029-C4F8-4D51-B9D8-51F3ECAB1C36}" srcOrd="0" destOrd="0" parTransId="{49D1E1CD-C713-49BE-8586-4D59C7E31DEE}" sibTransId="{08A267C3-1664-4AE0-85B8-A63107D91BC9}"/>
    <dgm:cxn modelId="{75A6AB31-5729-4608-82E8-A899CE15D625}" srcId="{F1C80BFF-ED7C-451D-AB65-CA16F4373C93}" destId="{56BD2B07-C0C2-45FD-87A1-DC17272F6F10}" srcOrd="6" destOrd="0" parTransId="{DB20CB8B-C04E-45FF-9BF0-BE428738BB78}" sibTransId="{0DFD5303-A9B3-4569-A848-57B3BA2E27EC}"/>
    <dgm:cxn modelId="{5F850C38-54CE-4895-8543-04AD7E5FEFCE}" srcId="{5E024408-803D-4150-B178-0682C2ED4061}" destId="{0E177550-AA59-485F-A043-A66CFCF23664}" srcOrd="1" destOrd="0" parTransId="{718CAA68-D20D-4506-B93C-7670A28FDB99}" sibTransId="{9797C60B-BC15-475C-BE58-BFF19C46BBF5}"/>
    <dgm:cxn modelId="{DAE6DF5C-76DB-427F-9F63-269C7022BCB4}" srcId="{F1C80BFF-ED7C-451D-AB65-CA16F4373C93}" destId="{EB8A69D0-B14A-477B-9603-B9176AA7127D}" srcOrd="2" destOrd="0" parTransId="{82D8D9F5-FCB3-4ECE-A76B-384CAA9EE036}" sibTransId="{4033C812-CA41-4AF3-8D73-BD1EC8068197}"/>
    <dgm:cxn modelId="{4433B75E-6D08-4A6D-8CBD-60C27E67F519}" type="presOf" srcId="{4A79809D-7988-41A8-A922-86E8E641AFE5}" destId="{9BA84EB0-A0B7-4712-AE92-19EB8206F82C}" srcOrd="0" destOrd="4" presId="urn:microsoft.com/office/officeart/2005/8/layout/vList2"/>
    <dgm:cxn modelId="{41DB6A46-8385-495F-8AC5-6160FCE00ECF}" type="presOf" srcId="{EAE1B029-C4F8-4D51-B9D8-51F3ECAB1C36}" destId="{00EB657F-2339-4BD1-BFB1-764B9CDBE2DA}" srcOrd="0" destOrd="0" presId="urn:microsoft.com/office/officeart/2005/8/layout/vList2"/>
    <dgm:cxn modelId="{EFC2E147-6C37-464F-8F99-C9EAD4EA6225}" type="presOf" srcId="{3AF876A5-2B74-4D2F-A975-38B77F3B9563}" destId="{9BA84EB0-A0B7-4712-AE92-19EB8206F82C}" srcOrd="0" destOrd="3" presId="urn:microsoft.com/office/officeart/2005/8/layout/vList2"/>
    <dgm:cxn modelId="{64C4A14B-E608-44E5-A877-EA6E44B266E0}" srcId="{A1110BE0-B95D-4F12-B78B-A66934BC5FB4}" destId="{5E024408-803D-4150-B178-0682C2ED4061}" srcOrd="1" destOrd="0" parTransId="{85314941-7757-4CA0-95E3-872C464B4088}" sibTransId="{54AF62A6-66CF-4E1D-8136-B28683649CC0}"/>
    <dgm:cxn modelId="{5028304C-17DA-4BCD-B0C6-D5E58BFFEAC8}" srcId="{F1C80BFF-ED7C-451D-AB65-CA16F4373C93}" destId="{826EBE00-DB34-4E98-9F34-5BF1FD691712}" srcOrd="0" destOrd="0" parTransId="{10B86E61-8E4C-4960-AD1C-658B8B91E8AD}" sibTransId="{171CB5B2-3E9A-4513-BF22-EF76F4BE22CC}"/>
    <dgm:cxn modelId="{ECB19750-6842-4618-B621-244E621D79FF}" srcId="{F1C80BFF-ED7C-451D-AB65-CA16F4373C93}" destId="{518B77AE-29B2-4892-9E01-2FC4ACB45863}" srcOrd="1" destOrd="0" parTransId="{AD84A95E-424D-44BA-97AB-3AF470F75140}" sibTransId="{29DC9843-3183-4759-9087-4DC15E24A852}"/>
    <dgm:cxn modelId="{B4BDCD80-74B4-4328-8817-832AA98AB1C7}" srcId="{F1C80BFF-ED7C-451D-AB65-CA16F4373C93}" destId="{F5ED48C5-8874-4681-B411-31EAD67B6750}" srcOrd="7" destOrd="0" parTransId="{978B1306-3A58-4D8D-9BB8-0AAB9834D625}" sibTransId="{C1D2ADCC-3664-467D-904F-3DFD0580E3A1}"/>
    <dgm:cxn modelId="{34708594-F799-4A4E-8FFE-8724265A7E27}" type="presOf" srcId="{F5ED48C5-8874-4681-B411-31EAD67B6750}" destId="{9BA84EB0-A0B7-4712-AE92-19EB8206F82C}" srcOrd="0" destOrd="7" presId="urn:microsoft.com/office/officeart/2005/8/layout/vList2"/>
    <dgm:cxn modelId="{F5DECBAA-3D38-4ADD-BA70-12529061ACC0}" type="presOf" srcId="{5E024408-803D-4150-B178-0682C2ED4061}" destId="{42A77516-A204-4F25-898F-A9377CBFF010}" srcOrd="0" destOrd="0" presId="urn:microsoft.com/office/officeart/2005/8/layout/vList2"/>
    <dgm:cxn modelId="{2F8ADDAA-8F61-4C27-979F-B79169A5A646}" type="presOf" srcId="{518B77AE-29B2-4892-9E01-2FC4ACB45863}" destId="{9BA84EB0-A0B7-4712-AE92-19EB8206F82C}" srcOrd="0" destOrd="1" presId="urn:microsoft.com/office/officeart/2005/8/layout/vList2"/>
    <dgm:cxn modelId="{032F04AE-A6B9-439C-BA7C-8C52B15D6828}" type="presOf" srcId="{56BD2B07-C0C2-45FD-87A1-DC17272F6F10}" destId="{9BA84EB0-A0B7-4712-AE92-19EB8206F82C}" srcOrd="0" destOrd="6" presId="urn:microsoft.com/office/officeart/2005/8/layout/vList2"/>
    <dgm:cxn modelId="{38A911AE-6566-476A-96D9-66F8ED94B33F}" type="presOf" srcId="{826EBE00-DB34-4E98-9F34-5BF1FD691712}" destId="{9BA84EB0-A0B7-4712-AE92-19EB8206F82C}" srcOrd="0" destOrd="0" presId="urn:microsoft.com/office/officeart/2005/8/layout/vList2"/>
    <dgm:cxn modelId="{13394CB9-BDB5-4FFD-8C05-5F900DD477C0}" srcId="{F1C80BFF-ED7C-451D-AB65-CA16F4373C93}" destId="{3AF876A5-2B74-4D2F-A975-38B77F3B9563}" srcOrd="3" destOrd="0" parTransId="{483AED90-98CC-4A49-964D-4B1BFC3B8B47}" sibTransId="{3FFF615E-EC41-4020-8C8F-AFB7E055F1F8}"/>
    <dgm:cxn modelId="{C36D48BB-FF1C-4F0B-BA08-F853DDCF0056}" type="presOf" srcId="{F1C80BFF-ED7C-451D-AB65-CA16F4373C93}" destId="{BB8B29FD-4647-4A1A-A92A-DB3EB4806DAD}" srcOrd="0" destOrd="0" presId="urn:microsoft.com/office/officeart/2005/8/layout/vList2"/>
    <dgm:cxn modelId="{C6E21EBF-DE2F-453D-A148-21DE1D449DEB}" type="presOf" srcId="{EB8A69D0-B14A-477B-9603-B9176AA7127D}" destId="{9BA84EB0-A0B7-4712-AE92-19EB8206F82C}" srcOrd="0" destOrd="2" presId="urn:microsoft.com/office/officeart/2005/8/layout/vList2"/>
    <dgm:cxn modelId="{302E03D9-D7EA-49FB-BC98-76605C6D1DAE}" srcId="{F1C80BFF-ED7C-451D-AB65-CA16F4373C93}" destId="{78DD69F1-FBF3-4F49-B01E-7555D0547B2D}" srcOrd="5" destOrd="0" parTransId="{CC9CC2F2-A789-47B7-A9D5-CDC78E40E707}" sibTransId="{9FDE95AB-F9EC-438A-A3B4-2F3886BCA8A6}"/>
    <dgm:cxn modelId="{66E64AB2-75E0-40AC-BFD5-6EA1AE629701}" type="presParOf" srcId="{5A6218A1-1F50-4C4B-A412-2D3B761ADD26}" destId="{BB8B29FD-4647-4A1A-A92A-DB3EB4806DAD}" srcOrd="0" destOrd="0" presId="urn:microsoft.com/office/officeart/2005/8/layout/vList2"/>
    <dgm:cxn modelId="{3367813A-4464-4CED-ACB9-36E3E2E7B70A}" type="presParOf" srcId="{5A6218A1-1F50-4C4B-A412-2D3B761ADD26}" destId="{9BA84EB0-A0B7-4712-AE92-19EB8206F82C}" srcOrd="1" destOrd="0" presId="urn:microsoft.com/office/officeart/2005/8/layout/vList2"/>
    <dgm:cxn modelId="{25B8B7EF-9610-4F3C-8947-09FE69E272A3}" type="presParOf" srcId="{5A6218A1-1F50-4C4B-A412-2D3B761ADD26}" destId="{42A77516-A204-4F25-898F-A9377CBFF010}" srcOrd="2" destOrd="0" presId="urn:microsoft.com/office/officeart/2005/8/layout/vList2"/>
    <dgm:cxn modelId="{C5E152B2-007C-4EDB-A366-818060FCEBB6}" type="presParOf" srcId="{5A6218A1-1F50-4C4B-A412-2D3B761ADD26}" destId="{00EB657F-2339-4BD1-BFB1-764B9CDBE2D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B29FD-4647-4A1A-A92A-DB3EB4806DAD}">
      <dsp:nvSpPr>
        <dsp:cNvPr id="0" name=""/>
        <dsp:cNvSpPr/>
      </dsp:nvSpPr>
      <dsp:spPr>
        <a:xfrm>
          <a:off x="0" y="14200"/>
          <a:ext cx="7385780" cy="1048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i="0" kern="1200" dirty="0"/>
            <a:t>Girdi özellikleri</a:t>
          </a:r>
          <a:endParaRPr lang="en-US" sz="3200" kern="1200" dirty="0"/>
        </a:p>
      </dsp:txBody>
      <dsp:txXfrm>
        <a:off x="51175" y="65375"/>
        <a:ext cx="7283430" cy="945970"/>
      </dsp:txXfrm>
    </dsp:sp>
    <dsp:sp modelId="{9BA84EB0-A0B7-4712-AE92-19EB8206F82C}">
      <dsp:nvSpPr>
        <dsp:cNvPr id="0" name=""/>
        <dsp:cNvSpPr/>
      </dsp:nvSpPr>
      <dsp:spPr>
        <a:xfrm>
          <a:off x="0" y="1062520"/>
          <a:ext cx="7385780" cy="2724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49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relative compactness,</a:t>
          </a:r>
          <a:r>
            <a:rPr lang="tr-TR" sz="1800" b="0" i="0" kern="1200" dirty="0"/>
            <a:t>(bağıl </a:t>
          </a:r>
          <a:r>
            <a:rPr lang="tr-TR" sz="1800" b="0" i="0" kern="1200" dirty="0" err="1"/>
            <a:t>kompaksiyon</a:t>
          </a:r>
          <a:r>
            <a:rPr lang="tr-TR" sz="1800" b="0" i="0" kern="1200" dirty="0"/>
            <a:t>, zemin sıkılaştırmayla alakalı)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roof area,</a:t>
          </a:r>
          <a:r>
            <a:rPr lang="tr-TR" sz="1800" b="0" i="0" kern="1200" dirty="0"/>
            <a:t> (çatı alanı-m²)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overall height,</a:t>
          </a:r>
          <a:r>
            <a:rPr lang="tr-TR" sz="1800" b="0" i="0" kern="1200" dirty="0"/>
            <a:t>(yükseklik-m)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surface area,</a:t>
          </a:r>
          <a:r>
            <a:rPr lang="tr-TR" sz="1800" b="0" i="0" kern="1200" dirty="0"/>
            <a:t>(yüzey alanı-m²)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glazing area,</a:t>
          </a:r>
          <a:r>
            <a:rPr lang="tr-TR" sz="1800" b="0" i="0" kern="1200" dirty="0"/>
            <a:t>(camlı alan-%0,%10… of </a:t>
          </a:r>
          <a:r>
            <a:rPr lang="tr-TR" sz="1800" b="0" i="0" kern="1200" dirty="0" err="1"/>
            <a:t>floor</a:t>
          </a:r>
          <a:r>
            <a:rPr lang="tr-TR" sz="1800" b="0" i="0" kern="1200" dirty="0"/>
            <a:t> </a:t>
          </a:r>
          <a:r>
            <a:rPr lang="tr-TR" sz="1800" b="0" i="0" kern="1200" dirty="0" err="1"/>
            <a:t>area</a:t>
          </a:r>
          <a:r>
            <a:rPr lang="tr-TR" sz="1800" b="0" i="0" kern="1200" dirty="0"/>
            <a:t>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wall area,</a:t>
          </a:r>
          <a:r>
            <a:rPr lang="tr-TR" sz="1800" b="0" i="0" kern="1200" dirty="0"/>
            <a:t>(duvar alanı-m²)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glazing area distribution of a building,</a:t>
          </a:r>
          <a:r>
            <a:rPr lang="tr-TR" sz="1800" b="0" i="0" kern="1200" dirty="0"/>
            <a:t>(camların baktığı yön-kuzey/güney/doğu/batı)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orientation.</a:t>
          </a:r>
          <a:r>
            <a:rPr lang="tr-TR" sz="1800" b="0" i="0" kern="1200" dirty="0"/>
            <a:t>(evin bulunduğu yön konum-kuzey/güney/doğu/batı)</a:t>
          </a:r>
          <a:endParaRPr lang="en-US" sz="1800" kern="1200" dirty="0"/>
        </a:p>
      </dsp:txBody>
      <dsp:txXfrm>
        <a:off x="0" y="1062520"/>
        <a:ext cx="7385780" cy="2724120"/>
      </dsp:txXfrm>
    </dsp:sp>
    <dsp:sp modelId="{42A77516-A204-4F25-898F-A9377CBFF010}">
      <dsp:nvSpPr>
        <dsp:cNvPr id="0" name=""/>
        <dsp:cNvSpPr/>
      </dsp:nvSpPr>
      <dsp:spPr>
        <a:xfrm>
          <a:off x="0" y="3786640"/>
          <a:ext cx="7385780" cy="104832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i="0" kern="1200" dirty="0"/>
            <a:t>Çıktı özellikleri</a:t>
          </a:r>
          <a:endParaRPr lang="en-US" sz="3200" kern="1200" dirty="0"/>
        </a:p>
      </dsp:txBody>
      <dsp:txXfrm>
        <a:off x="51175" y="3837815"/>
        <a:ext cx="7283430" cy="945970"/>
      </dsp:txXfrm>
    </dsp:sp>
    <dsp:sp modelId="{00EB657F-2339-4BD1-BFB1-764B9CDBE2DA}">
      <dsp:nvSpPr>
        <dsp:cNvPr id="0" name=""/>
        <dsp:cNvSpPr/>
      </dsp:nvSpPr>
      <dsp:spPr>
        <a:xfrm>
          <a:off x="0" y="4834960"/>
          <a:ext cx="7385780" cy="927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49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heating loads, and</a:t>
          </a:r>
          <a:r>
            <a:rPr lang="tr-TR" sz="1800" b="0" i="0" kern="1200" dirty="0"/>
            <a:t>(ısıtma yükü-</a:t>
          </a:r>
          <a:r>
            <a:rPr lang="tr-TR" sz="1800" b="0" i="0" kern="1200" dirty="0" err="1"/>
            <a:t>kWh</a:t>
          </a:r>
          <a:r>
            <a:rPr lang="tr-TR" sz="1800" b="0" i="0" kern="1200" dirty="0"/>
            <a:t>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cooling loads of the building.</a:t>
          </a:r>
          <a:r>
            <a:rPr lang="tr-TR" sz="1800" b="0" i="0" kern="1200" dirty="0"/>
            <a:t>(soğutma yükü- </a:t>
          </a:r>
          <a:r>
            <a:rPr lang="tr-TR" sz="1800" b="0" i="0" kern="1200" dirty="0" err="1"/>
            <a:t>kWh</a:t>
          </a:r>
          <a:r>
            <a:rPr lang="tr-TR" sz="1800" b="0" i="0" kern="1200" dirty="0"/>
            <a:t>)</a:t>
          </a:r>
          <a:endParaRPr lang="en-US" sz="1800" kern="1200" dirty="0"/>
        </a:p>
      </dsp:txBody>
      <dsp:txXfrm>
        <a:off x="0" y="4834960"/>
        <a:ext cx="7385780" cy="927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FECAE3-1862-4AB9-A7BB-44ACEDA2C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DDF8092-B86E-4CE7-AFF3-FF7BB8FD6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31A35CF-3E9F-459B-812B-7C6BA31B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5F3904-9555-4D28-B3CD-8A833277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2910205-449E-4F2A-8924-3AAE3AC3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710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BFFF14-668B-45AB-BEAD-6BA5A2158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78265A7-1D15-4FFC-8E87-330D645F4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4A95A7-45E7-4C0E-9421-0AEE9BF5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4B74E5-C373-4BD5-BBB4-58AB3048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DEB6675-586E-4DD6-87FE-74E1A0CA5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95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76C23C-4590-41F0-B1B0-5C7C234A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715B272-FBB2-4C85-A89E-6A3D67B24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DFBB93-6826-4EF9-9318-93B48D24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8DA18FA-6970-44E7-9A97-849A211E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F8D0968-960F-4DCF-8E99-89DB4132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635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A9633D-0319-4983-A51E-F97F21D3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D8C0F4-A207-41BC-98C9-2ACD3026D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B82CC4D-359A-4D31-A8A2-8AF810665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30FC936-47B8-49A2-9B73-F4467DD4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59DFD56-E760-47F7-9C85-28E3EA4B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647D04B-36BF-46EB-902D-018050A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123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E8BBDC-FAEB-474A-90E9-7B2193A0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D8AE014-87CD-448A-BEDF-8D57AF2D9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13098A0-DA8D-4376-B159-EEE7BC700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DED05F7-B6AC-4867-989E-F9B748DC4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EC0A147-52E6-4652-932A-38A6F6BAF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2659534-3A18-4DA5-92C6-FF849906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89CC6AC-A1B1-436B-B3EA-6CAD52C4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DE38ADB-D8A0-4815-8778-B5EE83021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050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BC8714-6419-454F-A884-A9A8BEF7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262AFD6-C3AF-4DD7-924F-559C7730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436416F-6B91-42F5-B5E4-1E498126F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DFA0CD7-856D-4D13-AAC9-BC3C3B2A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631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BDC9B52-546B-45F3-A7BE-BDF47636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4F30D2C-20CB-43DB-9971-AFF6A8AF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426057D-8E92-4F1E-A423-A2D607C4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363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946DEB-56F2-4C79-9B38-4091C270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B2ECB8-57CF-4055-8A91-DA0D404D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74A64DE-14BA-4BF1-B269-A9D1F153D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9882DA2-FD6C-46F3-AE17-D6E69195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5B776C7-9431-4CB2-ABE8-24B62F4A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E170ADF-2698-4E00-9F06-8F154FEA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046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066901-7A10-4F22-AD30-6A9C03E29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72450D8-1217-4098-9175-BD004DECE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A4F2B1F-25DD-4FF6-937F-50711D9A6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B90793-1C89-483D-9A3D-919FFE73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D89107D-D0FA-4102-8FE5-3583928C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E7D67BC-9702-4DFE-9445-27DE12F5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304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1A9683-B2D6-45F0-A44C-8FC0D073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022EF12-C940-42A2-AB28-963ADB1B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9719167-3C49-45EA-97B5-032AC7B8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7AA6668-568F-4A1D-95F0-0BA7E825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84DD3A-7E06-4A11-B1D4-6D18E83F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17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6F1E940-C38E-461A-8473-4CB95E1DF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27F15E0-DD7F-43F6-84A6-E16948990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0FD8AB-27F6-4E83-98E2-FCE46C7C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E822D0C-A7DE-4BE4-A967-7AEBF88A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8FD58C9-6291-49B8-8C80-7D51BFCC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967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790BD44-14D1-4450-9997-E48D08D9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621800C-D903-47B7-977A-FEDDBEF52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508EF95-41CD-4F25-B987-4B0753E9C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80662-F11B-4C30-ACE3-FA5C62CB441E}" type="datetimeFigureOut">
              <a:rPr lang="tr-TR" smtClean="0"/>
              <a:t>29 May 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058BEE6-EA08-4BCE-A3B0-A71221972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F3A2CD-EFBD-4AAD-B99A-40D2CF586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EFA0A-6347-465E-9701-B17F22573EA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871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13C0CEA-EDFE-484A-B787-5AB4BACD0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tr-TR" sz="6700"/>
              <a:t>Makine öğrenmesine giriş </a:t>
            </a:r>
            <a:br>
              <a:rPr lang="tr-TR" sz="6700"/>
            </a:br>
            <a:endParaRPr lang="tr-TR" sz="670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736B015-4EC2-4901-8665-461D21FAF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889196"/>
            <a:ext cx="8258176" cy="631825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Proje Ödevi</a:t>
            </a:r>
          </a:p>
          <a:p>
            <a:endParaRPr lang="tr-TR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33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7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BE4D38E-46AE-4AF5-A892-2232AE08F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tr-TR" sz="3600" dirty="0"/>
              <a:t>Binalarda Enerji Verimliliğinin Modellenmesi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D0CD8F-9EEB-4815-B14B-D231DC79E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44" y="1782981"/>
            <a:ext cx="5000016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/>
              <a:t>Genel bakış ve özet</a:t>
            </a:r>
          </a:p>
          <a:p>
            <a:r>
              <a:rPr lang="tr-TR" sz="2000" dirty="0"/>
              <a:t>Bu rapor, </a:t>
            </a:r>
            <a:r>
              <a:rPr lang="tr-TR" sz="2000" b="1" dirty="0"/>
              <a:t>https://archive.ics.uci.edu/ml/datasets/Energy+efficiency# </a:t>
            </a:r>
            <a:r>
              <a:rPr lang="tr-TR" sz="2000" dirty="0"/>
              <a:t>adresinde bulunan veri setini temel alır ve ham verileri gösterir.</a:t>
            </a:r>
          </a:p>
          <a:p>
            <a:r>
              <a:rPr lang="tr-TR" sz="2000" dirty="0"/>
              <a:t> Bu veri setine bakma sebebim makine öğrenmesi algoritmalarını burada uygulanabilir olduğunu görmem ve sonuç olarak tahmini verilerle görselleştirmektir. </a:t>
            </a:r>
          </a:p>
          <a:p>
            <a:r>
              <a:rPr lang="tr-TR" sz="2000" dirty="0"/>
              <a:t>Veri kümesi 8 girdi değişkeni ve 2 çıktı değişkeni içerir. </a:t>
            </a:r>
          </a:p>
        </p:txBody>
      </p:sp>
      <p:grpSp>
        <p:nvGrpSpPr>
          <p:cNvPr id="1029" name="Group 7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Energy-Efficiency-Buildings">
            <a:extLst>
              <a:ext uri="{FF2B5EF4-FFF2-40B4-BE49-F238E27FC236}">
                <a16:creationId xmlns:a16="http://schemas.microsoft.com/office/drawing/2014/main" id="{8A013B35-DFB9-8F53-B1D3-68513645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5320" y="1798752"/>
            <a:ext cx="6253212" cy="433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3169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BE4D38E-46AE-4AF5-A892-2232AE08F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tr-TR" sz="4000" dirty="0">
                <a:solidFill>
                  <a:srgbClr val="FFFFFF"/>
                </a:solidFill>
              </a:rPr>
              <a:t>Binalarda Enerji Verimliliğinin Modellenmesi</a:t>
            </a:r>
          </a:p>
        </p:txBody>
      </p:sp>
      <p:graphicFrame>
        <p:nvGraphicFramePr>
          <p:cNvPr id="16" name="İçerik Yer Tutucusu 2">
            <a:extLst>
              <a:ext uri="{FF2B5EF4-FFF2-40B4-BE49-F238E27FC236}">
                <a16:creationId xmlns:a16="http://schemas.microsoft.com/office/drawing/2014/main" id="{5E6D1218-1B5C-B864-CF93-4FCB2EA85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63913"/>
              </p:ext>
            </p:extLst>
          </p:nvPr>
        </p:nvGraphicFramePr>
        <p:xfrm>
          <a:off x="4186106" y="427839"/>
          <a:ext cx="7385780" cy="5776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885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Document 2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F4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BE4D38E-46AE-4AF5-A892-2232AE08F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Binalarda Enerji Verimliliğinin Modellenmesi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839C714-BFCD-8B21-450D-E43F14270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1943" y="640080"/>
            <a:ext cx="7039516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43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36DAF9-D285-46A4-BC8F-565F3215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965" y="130391"/>
            <a:ext cx="4439477" cy="3113580"/>
          </a:xfrm>
        </p:spPr>
        <p:txBody>
          <a:bodyPr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tr-TR" sz="1800" dirty="0"/>
              <a:t>Veri setimiz 768 satır 10 sütundan oluşuyor ve sayısal verilerden ibaret.</a:t>
            </a:r>
            <a:br>
              <a:rPr lang="tr-TR" sz="1800" dirty="0"/>
            </a:br>
            <a:r>
              <a:rPr lang="tr-TR" sz="1800" dirty="0"/>
              <a:t>içerisinde kayıp veri yok ve  bu yüzden özellik seçimi konusunda temizleme ve kayıp verileri denetlemeye gerek kalmıyor.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C73F607-C008-22C7-4955-22CD5C21D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369" y="37425"/>
            <a:ext cx="5764414" cy="357660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4F79D7B-F393-05A8-A866-FFB1E47F5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4029"/>
            <a:ext cx="9392961" cy="324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00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06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336DAF9-D285-46A4-BC8F-565F3215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ctr" fontAlgn="base"/>
            <a:r>
              <a:rPr lang="en-US" sz="1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Veri setimiz 768 satır 10 sütundan oluşuyor ve sayısal verilerden ibaret.</a:t>
            </a:r>
            <a:br>
              <a:rPr lang="en-US" sz="1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içerisinde kayıp veri yok ve  bu yüzden özellik seçimi konusunda temizleme ve kayıp verileri denetlemeye gerek kalmıyor.</a:t>
            </a:r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F8DDA41D-E202-2BA2-D7B1-8AF5E2904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9983" y="445377"/>
            <a:ext cx="8316719" cy="596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0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06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1745B765-7EAE-9ECC-0771-BFD2F3CC5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" y="0"/>
            <a:ext cx="5467121" cy="4065593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7184C32F-E367-8D77-7982-70100F323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116" y="0"/>
            <a:ext cx="629690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5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2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3B721B0-36F1-3293-136A-1A3F5525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20" y="0"/>
            <a:ext cx="6219514" cy="6872392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9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75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7B2747B-5C3D-B9B4-D838-EE79A1F58045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Modelleme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aşaması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A58736A-234E-DDBF-5B51-4AC7971B4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082156"/>
            <a:ext cx="7188199" cy="46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1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75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7B2747B-5C3D-B9B4-D838-EE79A1F58045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Modelleme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aşaması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İçerik Yer Tutucusu 4">
            <a:extLst>
              <a:ext uri="{FF2B5EF4-FFF2-40B4-BE49-F238E27FC236}">
                <a16:creationId xmlns:a16="http://schemas.microsoft.com/office/drawing/2014/main" id="{19E0E5E6-7F18-B468-CBCA-823CC7FC8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3133" y="557295"/>
            <a:ext cx="7140984" cy="512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41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75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7B2747B-5C3D-B9B4-D838-EE79A1F58045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Modelleme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aşaması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18305E9D-CD16-BA12-1946-2575C7597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029" y="1017262"/>
            <a:ext cx="8459381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1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151A93-7127-2A8F-7A87-9381428E3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B3057B8-6C0A-8027-1AC6-3B99E35C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7" y="432969"/>
            <a:ext cx="11869806" cy="59920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Başlık 1">
                <a:extLst>
                  <a:ext uri="{FF2B5EF4-FFF2-40B4-BE49-F238E27FC236}">
                    <a16:creationId xmlns:a16="http://schemas.microsoft.com/office/drawing/2014/main" id="{B709A63A-DD9B-F75D-922D-738BEA4BE5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894962" y="396085"/>
                <a:ext cx="4071159" cy="569904"/>
              </a:xfrm>
            </p:spPr>
            <p:txBody>
              <a:bodyPr>
                <a:normAutofit/>
              </a:bodyPr>
              <a:lstStyle/>
              <a:p>
                <a:r>
                  <a:rPr lang="tr-TR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4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tr-TR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sz="2400" dirty="0" err="1"/>
                  <a:t>score’a</a:t>
                </a:r>
                <a:r>
                  <a:rPr lang="tr-TR" sz="2400" dirty="0"/>
                  <a:t> göre)</a:t>
                </a:r>
              </a:p>
            </p:txBody>
          </p:sp>
        </mc:Choice>
        <mc:Fallback>
          <p:sp>
            <p:nvSpPr>
              <p:cNvPr id="2" name="Başlık 1">
                <a:extLst>
                  <a:ext uri="{FF2B5EF4-FFF2-40B4-BE49-F238E27FC236}">
                    <a16:creationId xmlns:a16="http://schemas.microsoft.com/office/drawing/2014/main" id="{B709A63A-DD9B-F75D-922D-738BEA4BE5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894962" y="396085"/>
                <a:ext cx="4071159" cy="569904"/>
              </a:xfrm>
              <a:blipFill>
                <a:blip r:embed="rId3"/>
                <a:stretch>
                  <a:fillRect l="-2246" t="-2151" b="-1182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425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B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F395B80-5F93-4CAE-55E1-FE54C138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013557" cy="1845588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Modelleme</a:t>
            </a:r>
            <a:br>
              <a:rPr lang="tr-TR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tr-TR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değerlendirme</a:t>
            </a:r>
            <a:endParaRPr lang="en-US" sz="1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EE48174-6250-4078-87D4-5516CBAC2D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2" r="17229"/>
          <a:stretch/>
        </p:blipFill>
        <p:spPr>
          <a:xfrm>
            <a:off x="2799460" y="47159"/>
            <a:ext cx="7886794" cy="4165917"/>
          </a:xfrm>
          <a:prstGeom prst="rect">
            <a:avLst/>
          </a:prstGeom>
        </p:spPr>
      </p:pic>
      <p:sp>
        <p:nvSpPr>
          <p:cNvPr id="11" name="Başlık 1">
            <a:extLst>
              <a:ext uri="{FF2B5EF4-FFF2-40B4-BE49-F238E27FC236}">
                <a16:creationId xmlns:a16="http://schemas.microsoft.com/office/drawing/2014/main" id="{2A9B43F0-7A38-6088-9CD3-E0AD7CCA9BF3}"/>
              </a:ext>
            </a:extLst>
          </p:cNvPr>
          <p:cNvSpPr txBox="1">
            <a:spLocks/>
          </p:cNvSpPr>
          <p:nvPr/>
        </p:nvSpPr>
        <p:spPr>
          <a:xfrm>
            <a:off x="4038600" y="4884873"/>
            <a:ext cx="7188199" cy="1292090"/>
          </a:xfr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DCBACEB2-E514-944A-A356-A6496987B545}"/>
                  </a:ext>
                </a:extLst>
              </p:cNvPr>
              <p:cNvSpPr txBox="1"/>
              <p:nvPr/>
            </p:nvSpPr>
            <p:spPr>
              <a:xfrm>
                <a:off x="10249380" y="488007"/>
                <a:ext cx="30486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800" dirty="0">
                    <a:latin typeface="+mn-lt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800" dirty="0" err="1">
                    <a:latin typeface="+mn-lt"/>
                    <a:ea typeface="+mn-ea"/>
                    <a:cs typeface="+mn-cs"/>
                  </a:rPr>
                  <a:t>score’a</a:t>
                </a:r>
                <a:r>
                  <a:rPr lang="en-US" sz="1800" dirty="0"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800" dirty="0" err="1">
                    <a:latin typeface="+mn-lt"/>
                    <a:ea typeface="+mn-ea"/>
                    <a:cs typeface="+mn-cs"/>
                  </a:rPr>
                  <a:t>göre</a:t>
                </a:r>
                <a:r>
                  <a:rPr lang="en-US" sz="1800" dirty="0"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DCBACEB2-E514-944A-A356-A6496987B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380" y="488007"/>
                <a:ext cx="3048699" cy="369332"/>
              </a:xfrm>
              <a:prstGeom prst="rect">
                <a:avLst/>
              </a:prstGeom>
              <a:blipFill>
                <a:blip r:embed="rId3"/>
                <a:stretch>
                  <a:fillRect l="-1600" t="-8197" b="-2459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etin kutusu 7">
            <a:extLst>
              <a:ext uri="{FF2B5EF4-FFF2-40B4-BE49-F238E27FC236}">
                <a16:creationId xmlns:a16="http://schemas.microsoft.com/office/drawing/2014/main" id="{9AC1AEA8-D436-994F-ADE1-A5CE400DE7F6}"/>
              </a:ext>
            </a:extLst>
          </p:cNvPr>
          <p:cNvSpPr txBox="1"/>
          <p:nvPr/>
        </p:nvSpPr>
        <p:spPr>
          <a:xfrm>
            <a:off x="2398693" y="6080044"/>
            <a:ext cx="7021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Model, veri setinde 0.33 oranında eğitilmiş ve doğrulanmıştır. Tahmin testinin doğruluğu sırasıyla %96  ve %99 çıkmıştır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FF0E5CAD-1B85-80D9-AD73-88A81EF1A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353" y="3882272"/>
            <a:ext cx="8537832" cy="229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47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294</Words>
  <Application>Microsoft Office PowerPoint</Application>
  <PresentationFormat>Geniş ekran</PresentationFormat>
  <Paragraphs>30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Teması</vt:lpstr>
      <vt:lpstr>Makine öğrenmesine giriş  </vt:lpstr>
      <vt:lpstr>Binalarda Enerji Verimliliğinin Modellenmesi</vt:lpstr>
      <vt:lpstr>Binalarda Enerji Verimliliğinin Modellenmesi</vt:lpstr>
      <vt:lpstr>Binalarda Enerji Verimliliğinin Modellenmesi</vt:lpstr>
      <vt:lpstr>Veri setimiz 768 satır 10 sütundan oluşuyor ve sayısal verilerden ibaret. içerisinde kayıp veri yok ve  bu yüzden özellik seçimi konusunda temizleme ve kayıp verileri denetlemeye gerek kalmıyor.</vt:lpstr>
      <vt:lpstr>Veri setimiz 768 satır 10 sütundan oluşuyor ve sayısal verilerden ibaret. içerisinde kayıp veri yok ve  bu yüzden özellik seçimi konusunda temizleme ve kayıp verileri denetlemeye gerek kalmıyor.</vt:lpstr>
      <vt:lpstr>PowerPoint Sunusu</vt:lpstr>
      <vt:lpstr>PowerPoint Sunusu</vt:lpstr>
      <vt:lpstr>PowerPoint Sunusu</vt:lpstr>
      <vt:lpstr>PowerPoint Sunusu</vt:lpstr>
      <vt:lpstr>PowerPoint Sunusu</vt:lpstr>
      <vt:lpstr>(r^2  score’a göre)</vt:lpstr>
      <vt:lpstr>Modelleme değerlendirme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Makine öğrenmesine giriş</dc:title>
  <dc:creator>İskender AK</dc:creator>
  <cp:lastModifiedBy>İskender AK</cp:lastModifiedBy>
  <cp:revision>13</cp:revision>
  <dcterms:created xsi:type="dcterms:W3CDTF">2022-04-03T14:05:05Z</dcterms:created>
  <dcterms:modified xsi:type="dcterms:W3CDTF">2022-05-29T18:58:37Z</dcterms:modified>
</cp:coreProperties>
</file>